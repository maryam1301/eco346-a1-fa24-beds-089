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34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2343B"/>
                </a:solidFill>
                <a:latin typeface="Arial"/>
              </a:rPr>
              <a:t>Weighted mean earnings by age band (Rs thousand)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mean (Rs thousand)</c:v>
                </c:pt>
              </c:strCache>
            </c:strRef>
          </c:tx>
          <c:spPr>
            <a:solidFill>
              <a:srgbClr val="2D6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234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15-19</c:v>
                  </c:pt>
                  <c:pt idx="1">
                    <c:v>20-24</c:v>
                  </c:pt>
                  <c:pt idx="2">
                    <c:v>25-29</c:v>
                  </c:pt>
                  <c:pt idx="3">
                    <c:v>30-34</c:v>
                  </c:pt>
                  <c:pt idx="4">
                    <c:v>35-39</c:v>
                  </c:pt>
                  <c:pt idx="5">
                    <c:v>40-44</c:v>
                  </c:pt>
                  <c:pt idx="6">
                    <c:v>45-49</c:v>
                  </c:pt>
                  <c:pt idx="7">
                    <c:v>50-54</c:v>
                  </c:pt>
                  <c:pt idx="8">
                    <c:v>55-59</c:v>
                  </c:pt>
                  <c:pt idx="9">
                    <c:v>60-64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145</c:v>
                </c:pt>
                <c:pt idx="1">
                  <c:v>217</c:v>
                </c:pt>
                <c:pt idx="2">
                  <c:v>321</c:v>
                </c:pt>
                <c:pt idx="3">
                  <c:v>370</c:v>
                </c:pt>
                <c:pt idx="4">
                  <c:v>354</c:v>
                </c:pt>
                <c:pt idx="5">
                  <c:v>499</c:v>
                </c:pt>
                <c:pt idx="6">
                  <c:v>465</c:v>
                </c:pt>
                <c:pt idx="7">
                  <c:v>522</c:v>
                </c:pt>
                <c:pt idx="8">
                  <c:v>524</c:v>
                </c:pt>
                <c:pt idx="9">
                  <c:v>453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234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CBB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 1 = Punjab urban. Sample: earners 15-64, earnings above zero, weighted by hhweight.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hides most points near the bottom because of a few huge earners. Log scale, jitter and alpha fix overplotting; band means show the trend.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 means weighted by hhweight. No band has fewer than 30 earners.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5486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164592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09728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ECO346  |  FA24-BEDS-089  |  PSLM 2019-20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5486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earns what in urban Punjab?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645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How annual earnings are spread out, and how they change with age</a:t>
            </a:r>
            <a:endParaRPr lang="en-US" sz="1500" dirty="0"/>
          </a:p>
        </p:txBody>
      </p:sp>
      <p:sp>
        <p:nvSpPr>
          <p:cNvPr id="4" name="Card 1"/>
          <p:cNvSpPr/>
          <p:nvPr/>
        </p:nvSpPr>
        <p:spPr>
          <a:xfrm>
            <a:off x="640080" y="2514600"/>
            <a:ext cx="2468880" cy="1325880"/>
          </a:xfrm>
          <a:prstGeom prst="rect">
            <a:avLst/>
          </a:prstGeom>
          <a:solidFill>
            <a:schemeClr val="accent2">
              <a:alpha val="45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651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3,768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earners aged 15-64</a:t>
            </a:r>
            <a:endParaRPr lang="en-US" sz="1300" dirty="0"/>
          </a:p>
        </p:txBody>
      </p:sp>
      <p:sp>
        <p:nvSpPr>
          <p:cNvPr id="7" name="Card 2"/>
          <p:cNvSpPr/>
          <p:nvPr/>
        </p:nvSpPr>
        <p:spPr>
          <a:xfrm>
            <a:off x="3337560" y="2514600"/>
            <a:ext cx="2468880" cy="1325880"/>
          </a:xfrm>
          <a:prstGeom prst="rect">
            <a:avLst/>
          </a:prstGeom>
          <a:solidFill>
            <a:schemeClr val="accent2">
              <a:alpha val="45000"/>
            </a:schemeClr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2651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240,000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median yearly earnings</a:t>
            </a:r>
            <a:endParaRPr lang="en-US" sz="1300" dirty="0"/>
          </a:p>
        </p:txBody>
      </p:sp>
      <p:sp>
        <p:nvSpPr>
          <p:cNvPr id="10" name="Card 3"/>
          <p:cNvSpPr/>
          <p:nvPr/>
        </p:nvSpPr>
        <p:spPr>
          <a:xfrm>
            <a:off x="6035040" y="2514600"/>
            <a:ext cx="2468880" cy="1325880"/>
          </a:xfrm>
          <a:prstGeom prst="rect">
            <a:avLst/>
          </a:prstGeom>
          <a:solidFill>
            <a:schemeClr val="accent2">
              <a:alpha val="45000"/>
            </a:schemeClr>
          </a:solidFill>
          <a:ln w="15875">
            <a:solidFill>
              <a:srgbClr val="F28B6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2651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B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6.88x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top 10% vs bottom 10%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Maryam Akram  |  FA24-BEDS-089  |  Variant 1: Punjab urban (89 = 11 x 8 + 1)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5537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ECO346 Data Visualization Techniques  |  Section A  |  Weighted by household weight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Makeover: from R's default to a readable story</a:t>
            </a:r>
            <a:endParaRPr lang="en-US" sz="2400" dirty="0"/>
          </a:p>
        </p:txBody>
      </p:sp>
      <p:sp>
        <p:nvSpPr>
          <p:cNvPr id="3" name="Frame R's default: nothing changed"/>
          <p:cNvSpPr/>
          <p:nvPr/>
        </p:nvSpPr>
        <p:spPr>
          <a:xfrm>
            <a:off x="475488" y="1143000"/>
            <a:ext cx="4078224" cy="2697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Image 0" descr="R's default: nothing chang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234440"/>
            <a:ext cx="3520440" cy="2514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75488" y="3886200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R's default: nothing changed</a:t>
            </a:r>
            <a:endParaRPr lang="en-US" sz="1200" dirty="0"/>
          </a:p>
        </p:txBody>
      </p:sp>
      <p:sp>
        <p:nvSpPr>
          <p:cNvPr id="6" name="Frame Redesign: log scale + band means"/>
          <p:cNvSpPr/>
          <p:nvPr/>
        </p:nvSpPr>
        <p:spPr>
          <a:xfrm>
            <a:off x="4590288" y="1143000"/>
            <a:ext cx="4078224" cy="2697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mage 1" descr="Redesign: log scale + band mea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308" y="1234440"/>
            <a:ext cx="3824184" cy="2514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90288" y="3886200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Redesign: log scale + band means</a:t>
            </a:r>
            <a:endParaRPr lang="en-US" sz="1200" dirty="0"/>
          </a:p>
        </p:txBody>
      </p:sp>
      <p:sp>
        <p:nvSpPr>
          <p:cNvPr id="9" name="Chip 1"/>
          <p:cNvSpPr/>
          <p:nvPr/>
        </p:nvSpPr>
        <p:spPr>
          <a:xfrm>
            <a:off x="548640" y="4297680"/>
            <a:ext cx="25146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4297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Log scale</a:t>
            </a:r>
            <a:endParaRPr lang="en-US" sz="1200" dirty="0"/>
          </a:p>
        </p:txBody>
      </p:sp>
      <p:sp>
        <p:nvSpPr>
          <p:cNvPr id="11" name="Chip 2"/>
          <p:cNvSpPr/>
          <p:nvPr/>
        </p:nvSpPr>
        <p:spPr>
          <a:xfrm>
            <a:off x="3291840" y="4297680"/>
            <a:ext cx="25146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291840" y="4297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Jitter + transparency</a:t>
            </a:r>
            <a:endParaRPr lang="en-US" sz="1200" dirty="0"/>
          </a:p>
        </p:txBody>
      </p:sp>
      <p:sp>
        <p:nvSpPr>
          <p:cNvPr id="13" name="Chip 3"/>
          <p:cNvSpPr/>
          <p:nvPr/>
        </p:nvSpPr>
        <p:spPr>
          <a:xfrm>
            <a:off x="6035040" y="4297680"/>
            <a:ext cx="25146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035040" y="4297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Band-mean line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 rises with age and flattens in the 50s</a:t>
            </a:r>
            <a:endParaRPr lang="en-US" sz="2400" dirty="0"/>
          </a:p>
        </p:txBody>
      </p:sp>
      <p:sp>
        <p:nvSpPr>
          <p:cNvPr id="3" name="Stat 1"/>
          <p:cNvSpPr/>
          <p:nvPr/>
        </p:nvSpPr>
        <p:spPr>
          <a:xfrm>
            <a:off x="548640" y="1188720"/>
            <a:ext cx="2926080" cy="93268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Stat bar 1"/>
          <p:cNvSpPr/>
          <p:nvPr/>
        </p:nvSpPr>
        <p:spPr>
          <a:xfrm>
            <a:off x="548640" y="1188720"/>
            <a:ext cx="82296" cy="93268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320,776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ages 25-29</a:t>
            </a:r>
            <a:endParaRPr lang="en-US" sz="1200" dirty="0"/>
          </a:p>
        </p:txBody>
      </p:sp>
      <p:sp>
        <p:nvSpPr>
          <p:cNvPr id="7" name="Stat 2"/>
          <p:cNvSpPr/>
          <p:nvPr/>
        </p:nvSpPr>
        <p:spPr>
          <a:xfrm>
            <a:off x="548640" y="2267712"/>
            <a:ext cx="2926080" cy="93268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Stat bar 2"/>
          <p:cNvSpPr/>
          <p:nvPr/>
        </p:nvSpPr>
        <p:spPr>
          <a:xfrm>
            <a:off x="548640" y="2267712"/>
            <a:ext cx="82296" cy="93268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3591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465,073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163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ages 45-49</a:t>
            </a:r>
            <a:endParaRPr lang="en-US" sz="1200" dirty="0"/>
          </a:p>
        </p:txBody>
      </p:sp>
      <p:sp>
        <p:nvSpPr>
          <p:cNvPr id="11" name="Stat 3"/>
          <p:cNvSpPr/>
          <p:nvPr/>
        </p:nvSpPr>
        <p:spPr>
          <a:xfrm>
            <a:off x="548640" y="3346704"/>
            <a:ext cx="2926080" cy="93268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Stat bar 3"/>
          <p:cNvSpPr/>
          <p:nvPr/>
        </p:nvSpPr>
        <p:spPr>
          <a:xfrm>
            <a:off x="548640" y="3346704"/>
            <a:ext cx="82296" cy="9326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43814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523,751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8953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ages 55-59: highest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3749040" y="109728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54864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50-54 (Rs 521,949) is almost the same as 55-59, so the peak is flat.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figure cannot tell us</a:t>
            </a:r>
            <a:endParaRPr lang="en-US" sz="2400" dirty="0"/>
          </a:p>
        </p:txBody>
      </p:sp>
      <p:sp>
        <p:nvSpPr>
          <p:cNvPr id="3" name="Limit card 1"/>
          <p:cNvSpPr/>
          <p:nvPr/>
        </p:nvSpPr>
        <p:spPr>
          <a:xfrm>
            <a:off x="548640" y="1234440"/>
            <a:ext cx="8046720" cy="1005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Number 1"/>
          <p:cNvSpPr/>
          <p:nvPr/>
        </p:nvSpPr>
        <p:spPr>
          <a:xfrm>
            <a:off x="777240" y="148132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3441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one person's career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691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It compares different people at one moment in time. It cannot show how any one person's pay grows.</a:t>
            </a:r>
            <a:endParaRPr lang="en-US" sz="1200" dirty="0"/>
          </a:p>
        </p:txBody>
      </p:sp>
      <p:sp>
        <p:nvSpPr>
          <p:cNvPr id="8" name="Limit card 2"/>
          <p:cNvSpPr/>
          <p:nvPr/>
        </p:nvSpPr>
        <p:spPr>
          <a:xfrm>
            <a:off x="548640" y="2404872"/>
            <a:ext cx="8046720" cy="1005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Number 2"/>
          <p:cNvSpPr/>
          <p:nvPr/>
        </p:nvSpPr>
        <p:spPr>
          <a:xfrm>
            <a:off x="777240" y="265176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651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514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median sits on a spike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8620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Many people report exactly Rs 240,000 (Rs 20,000 a month), so weighted and unweighted medians match.</a:t>
            </a:r>
            <a:endParaRPr lang="en-US" sz="1200" dirty="0"/>
          </a:p>
        </p:txBody>
      </p:sp>
      <p:sp>
        <p:nvSpPr>
          <p:cNvPr id="13" name="Limit card 3"/>
          <p:cNvSpPr/>
          <p:nvPr/>
        </p:nvSpPr>
        <p:spPr>
          <a:xfrm>
            <a:off x="548640" y="3575304"/>
            <a:ext cx="8046720" cy="1005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3"/>
          <p:cNvSpPr/>
          <p:nvPr/>
        </p:nvSpPr>
        <p:spPr>
          <a:xfrm>
            <a:off x="777240" y="3822192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22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685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earners are cut off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03250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25 earners outside Rs 10,000 to Rs 10,000,000 are left out of the histogram.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njab Earnings">
  <a:themeElements>
    <a:clrScheme name="Punjab Earnings">
      <a:dk1>
        <a:srgbClr val="12343B"/>
      </a:dk1>
      <a:lt1>
        <a:srgbClr val="FFFFFF"/>
      </a:lt1>
      <a:dk2>
        <a:srgbClr val="2D5A5E"/>
      </a:dk2>
      <a:lt2>
        <a:srgbClr val="F6F1E7"/>
      </a:lt2>
      <a:accent1>
        <a:srgbClr val="C0392B"/>
      </a:accent1>
      <a:accent2>
        <a:srgbClr val="2D6A6E"/>
      </a:accent2>
      <a:accent3>
        <a:srgbClr val="E0A458"/>
      </a:accent3>
      <a:accent4>
        <a:srgbClr val="8FB8B0"/>
      </a:accent4>
      <a:accent5>
        <a:srgbClr val="6B7F82"/>
      </a:accent5>
      <a:accent6>
        <a:srgbClr val="D9CBB5"/>
      </a:accent6>
      <a:hlink>
        <a:srgbClr val="2D6A6E"/>
      </a:hlink>
      <a:folHlink>
        <a:srgbClr val="6B7F82"/>
      </a:folHlink>
    </a:clrScheme>
    <a:fontScheme name="Punjab Earning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ECO346 A1 FA24-BEDS-089</dc:title>
  <dc:subject>PptxGenJS Presentation</dc:subject>
  <dc:creator>Maryam Akram</dc:creator>
  <cp:lastModifiedBy>Maryam Akram</cp:lastModifiedBy>
  <cp:revision>1</cp:revision>
  <dcterms:created xsi:type="dcterms:W3CDTF">2026-10-25T09:07:07Z</dcterms:created>
  <dcterms:modified xsi:type="dcterms:W3CDTF">2026-10-25T09:07:07Z</dcterms:modified>
</cp:coreProperties>
</file>